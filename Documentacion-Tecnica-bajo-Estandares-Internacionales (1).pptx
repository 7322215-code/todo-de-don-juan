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Bricolage Grotesque ExtraBold" panose="020B0604020202020204" charset="0"/>
      <p:regular r:id="rId10"/>
    </p:embeddedFon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Montserrat" panose="00000500000000000000" pitchFamily="2" charset="0"/>
      <p:regular r:id="rId15"/>
      <p:italic r:id="rId16"/>
    </p:embeddedFont>
    <p:embeddedFont>
      <p:font typeface="Montserrat Bold" panose="00000800000000000000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43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925119" y="1016794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Documentación Técnica bajo Estándares Internacionales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8" y="2285442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guía práctica sobre </a:t>
            </a:r>
            <a:r>
              <a:rPr lang="en-US" sz="20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IEEE 829-2008</a:t>
            </a:r>
            <a:r>
              <a:rPr lang="en-US" sz="2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20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ISO/IEC 26514:2022</a:t>
            </a:r>
            <a:r>
              <a:rPr lang="en-US" sz="20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análisis de manuales reales, perfiles de usuario y diseño de documentación profesional para equipos de calidad y redacción técnica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625081"/>
            <a:ext cx="1589261" cy="215354"/>
          </a:xfrm>
          <a:prstGeom prst="roundRect">
            <a:avLst>
              <a:gd name="adj" fmla="val 22119"/>
            </a:avLst>
          </a:prstGeom>
          <a:solidFill>
            <a:srgbClr val="3E0845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6" name="Text 3"/>
          <p:cNvSpPr/>
          <p:nvPr/>
        </p:nvSpPr>
        <p:spPr>
          <a:xfrm>
            <a:off x="4010174" y="3667571"/>
            <a:ext cx="187635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CALIDAD DE SOFTWARE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585222" y="3625081"/>
            <a:ext cx="141535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EEAEF6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8" name="Text 5"/>
          <p:cNvSpPr/>
          <p:nvPr/>
        </p:nvSpPr>
        <p:spPr>
          <a:xfrm>
            <a:off x="5670277" y="3667571"/>
            <a:ext cx="17024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REDACCIÓN TÉCNICA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925119" y="3911278"/>
            <a:ext cx="209669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EEAEF6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0" name="Text 7"/>
          <p:cNvSpPr/>
          <p:nvPr/>
        </p:nvSpPr>
        <p:spPr>
          <a:xfrm>
            <a:off x="4010174" y="3953768"/>
            <a:ext cx="238378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EAEF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ESTÁNDARES INTERNACIONALES</a:t>
            </a:r>
            <a:endParaRPr lang="en-US" sz="85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0B771F1-26FC-9CAC-C3AD-988921583A89}"/>
              </a:ext>
            </a:extLst>
          </p:cNvPr>
          <p:cNvSpPr/>
          <p:nvPr/>
        </p:nvSpPr>
        <p:spPr>
          <a:xfrm>
            <a:off x="7609840" y="4795520"/>
            <a:ext cx="1463040" cy="27432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972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Los Dos Estándares de Referencia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325314"/>
            <a:ext cx="4107135" cy="3646079"/>
          </a:xfrm>
          <a:prstGeom prst="roundRect">
            <a:avLst>
              <a:gd name="adj" fmla="val 3242"/>
            </a:avLst>
          </a:prstGeom>
          <a:solidFill>
            <a:srgbClr val="243799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4" name="Text 2"/>
          <p:cNvSpPr/>
          <p:nvPr/>
        </p:nvSpPr>
        <p:spPr>
          <a:xfrm>
            <a:off x="535781" y="1467073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IEEE 829-2008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830288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 de pruebas y documentación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2184648"/>
            <a:ext cx="3823618" cy="2239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Plantillas estandarizadas para casos de prueba e informes de incidentes</a:t>
            </a:r>
            <a:endParaRPr lang="en-US" sz="14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Trazabilidad entre pruebas y requerimientos del sistema</a:t>
            </a:r>
            <a:endParaRPr lang="en-US" sz="14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Niveles de prueba: unitarias, integración, sistema y aceptación</a:t>
            </a:r>
            <a:endParaRPr lang="en-US" sz="14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Criterios claros de entrada y salida</a:t>
            </a:r>
            <a:endParaRPr lang="en-US" sz="14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detallado de fallos con severidad y pasos de reproducción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49701" y="1467073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ISO/IEC 26514:2022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1830288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Diseño de documentación para usuarios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2184648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Identificación de necesidades del usuario final</a:t>
            </a:r>
            <a:endParaRPr lang="en-US" sz="14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 de estructura, contenido y formato</a:t>
            </a:r>
            <a:endParaRPr lang="en-US" sz="14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Enfoque en ciclo de vida: estrategia y mantenimiento continuo</a:t>
            </a:r>
            <a:endParaRPr lang="en-US" sz="14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Presentación clara para facilitar la comprensión</a:t>
            </a:r>
            <a:endParaRPr lang="en-US" sz="14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Perfiles de especialistas: arquitectos, diseñadores y expertos en usabilidad</a:t>
            </a:r>
            <a:endParaRPr lang="en-US" sz="1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5F3B8D9-4D3E-3DFF-2D24-92C4944270AB}"/>
              </a:ext>
            </a:extLst>
          </p:cNvPr>
          <p:cNvSpPr/>
          <p:nvPr/>
        </p:nvSpPr>
        <p:spPr>
          <a:xfrm>
            <a:off x="8067040" y="4775200"/>
            <a:ext cx="1042804" cy="348734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3600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Análisis Comparativo de Manuales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915219"/>
            <a:ext cx="86089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Contraste entre un manual de referencia y uno traducido automáticamente</a:t>
            </a: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27708"/>
            <a:ext cx="5213524" cy="295431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04854" y="1581001"/>
            <a:ext cx="2694980" cy="2866281"/>
          </a:xfrm>
          <a:prstGeom prst="roundRect">
            <a:avLst>
              <a:gd name="adj" fmla="val 155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6" name="Shape 3"/>
          <p:cNvSpPr/>
          <p:nvPr/>
        </p:nvSpPr>
        <p:spPr>
          <a:xfrm>
            <a:off x="5957590" y="1581001"/>
            <a:ext cx="2694980" cy="62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7" name="Shape 4"/>
          <p:cNvSpPr/>
          <p:nvPr/>
        </p:nvSpPr>
        <p:spPr>
          <a:xfrm>
            <a:off x="5957590" y="2086794"/>
            <a:ext cx="2694980" cy="62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8" name="Shape 5"/>
          <p:cNvSpPr/>
          <p:nvPr/>
        </p:nvSpPr>
        <p:spPr>
          <a:xfrm>
            <a:off x="5957590" y="2592586"/>
            <a:ext cx="2694980" cy="62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9" name="Shape 6"/>
          <p:cNvSpPr/>
          <p:nvPr/>
        </p:nvSpPr>
        <p:spPr>
          <a:xfrm>
            <a:off x="5957590" y="2962573"/>
            <a:ext cx="2694980" cy="62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0" name="Shape 7"/>
          <p:cNvSpPr/>
          <p:nvPr/>
        </p:nvSpPr>
        <p:spPr>
          <a:xfrm>
            <a:off x="5957590" y="3332559"/>
            <a:ext cx="2694980" cy="62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1" name="Shape 8"/>
          <p:cNvSpPr/>
          <p:nvPr/>
        </p:nvSpPr>
        <p:spPr>
          <a:xfrm>
            <a:off x="5957590" y="3753141"/>
            <a:ext cx="2694980" cy="623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2" name="Text 9"/>
          <p:cNvSpPr/>
          <p:nvPr/>
        </p:nvSpPr>
        <p:spPr>
          <a:xfrm>
            <a:off x="6062439" y="1260202"/>
            <a:ext cx="115282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Criterio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57343" y="1260202"/>
            <a:ext cx="69562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Microsoft Word 365 </a:t>
            </a: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852246" y="1260202"/>
            <a:ext cx="69562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README GitHub </a:t>
            </a: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062439" y="1630189"/>
            <a:ext cx="115282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957343" y="1630189"/>
            <a:ext cx="695623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Categorías y navegación lógica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852246" y="1630189"/>
            <a:ext cx="695623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Secciones desordenadas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062439" y="2135981"/>
            <a:ext cx="115282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Lenguaje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957343" y="2135981"/>
            <a:ext cx="69562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Claro, paso a paso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7852246" y="2135981"/>
            <a:ext cx="695623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Traducción literal, jerga sin explicar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062439" y="2641774"/>
            <a:ext cx="115282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Visuales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957343" y="2641774"/>
            <a:ext cx="69562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Capturas anotadas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852246" y="2641774"/>
            <a:ext cx="115282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imágenes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62439" y="3011760"/>
            <a:ext cx="115282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Errores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957343" y="3011760"/>
            <a:ext cx="69562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Sección dedicada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852246" y="3011760"/>
            <a:ext cx="69562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aborda errores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062439" y="3381747"/>
            <a:ext cx="115282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Accesibilidad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957343" y="3381747"/>
            <a:ext cx="69562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Web, PDF, video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852246" y="3381747"/>
            <a:ext cx="115282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Solo texto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6062439" y="3751734"/>
            <a:ext cx="69562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Mantenimiento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957343" y="3751734"/>
            <a:ext cx="69562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Actualizado regularmente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852246" y="3751734"/>
            <a:ext cx="695623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fecha ni historial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6281440" y="4241602"/>
            <a:ext cx="2271489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endParaRPr lang="en-US" sz="750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16FC1CB-193C-116C-DDC1-CF32D24DA2F9}"/>
              </a:ext>
            </a:extLst>
          </p:cNvPr>
          <p:cNvSpPr/>
          <p:nvPr/>
        </p:nvSpPr>
        <p:spPr>
          <a:xfrm>
            <a:off x="8006080" y="4850548"/>
            <a:ext cx="1099002" cy="204149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334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Perfiles de Usuario: Tres Personas Clave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29854"/>
            <a:ext cx="1507480" cy="1507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01451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Laura Méndez — Estudiante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21025"/>
            <a:ext cx="2599134" cy="121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22 años · Nivel Alto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 especificaciones técnicas, ejemplos de código y casos de uso. Prefiere PDF con índice y buscador interno.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329854"/>
            <a:ext cx="1507480" cy="1507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301451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Rosa Hernández — Docente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321025"/>
            <a:ext cx="2599134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45 años · Nivel Bajo-Medio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Necesita pasos claros sin jerga técnica. Prefiere video tutorial e infografía imprimible con atajos.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329854"/>
            <a:ext cx="1507480" cy="1507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301451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Miguel Chinchilla — Admin TI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321025"/>
            <a:ext cx="2599134" cy="121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38 años · Nivel Muy Alto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Requiere arquitectura del sistema, configuración y troubleshooting. Prefiere documentación HTML con archivos de ejemplo.</a:t>
            </a:r>
            <a:endParaRPr lang="en-US" sz="11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C3D439C-B47E-A553-6CCF-0ED8F0F14202}"/>
              </a:ext>
            </a:extLst>
          </p:cNvPr>
          <p:cNvSpPr/>
          <p:nvPr/>
        </p:nvSpPr>
        <p:spPr>
          <a:xfrm>
            <a:off x="7914640" y="4826000"/>
            <a:ext cx="1148080" cy="31750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Herramientas Evaluadas y Selección Final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1149" y="54491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Decisiones Técnicas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482852" y="1067658"/>
            <a:ext cx="3991494" cy="1100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48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ShareX</a:t>
            </a:r>
            <a:r>
              <a:rPr lang="en-US" sz="4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Capturas con anotaciones avanzadas y formato PNG</a:t>
            </a:r>
            <a:endParaRPr lang="en-US" sz="48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48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Microsoft Word</a:t>
            </a:r>
            <a:r>
              <a:rPr lang="en-US" sz="4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Mayor fidelidad en exportación PDF</a:t>
            </a:r>
            <a:endParaRPr lang="en-US" sz="48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48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CapCut</a:t>
            </a:r>
            <a:r>
              <a:rPr lang="en-US" sz="4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Resultados profesionales con curva mínima</a:t>
            </a:r>
            <a:endParaRPr lang="en-US" sz="480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48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Canva</a:t>
            </a:r>
            <a:r>
              <a:rPr lang="en-US" sz="4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Elementos prediseñados para identidad </a:t>
            </a:r>
            <a:r>
              <a:rPr lang="en-US" sz="5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</a:t>
            </a:r>
            <a:endParaRPr lang="en-US" sz="550" dirty="0"/>
          </a:p>
        </p:txBody>
      </p:sp>
      <p:sp>
        <p:nvSpPr>
          <p:cNvPr id="6" name="Shape 3"/>
          <p:cNvSpPr/>
          <p:nvPr/>
        </p:nvSpPr>
        <p:spPr>
          <a:xfrm>
            <a:off x="4748101" y="4052356"/>
            <a:ext cx="3986733" cy="281285"/>
          </a:xfrm>
          <a:prstGeom prst="roundRect">
            <a:avLst>
              <a:gd name="adj" fmla="val 10915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8" name="Text 4"/>
          <p:cNvSpPr/>
          <p:nvPr/>
        </p:nvSpPr>
        <p:spPr>
          <a:xfrm>
            <a:off x="4903365" y="4395181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endParaRPr lang="en-US" sz="55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B9C2A1B-4C3C-53A1-A44F-94679FFCA386}"/>
              </a:ext>
            </a:extLst>
          </p:cNvPr>
          <p:cNvSpPr/>
          <p:nvPr/>
        </p:nvSpPr>
        <p:spPr>
          <a:xfrm>
            <a:off x="7894320" y="4856480"/>
            <a:ext cx="1249680" cy="228451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660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Matriz de Diseño de Documentación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75147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Identidad Visual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30548"/>
            <a:ext cx="3905696" cy="1472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Tipografía:</a:t>
            </a: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Roboto Bold (títulos), Medium (subtítulos), Regular (cuerpo)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Colores:</a:t>
            </a: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Azul #0066CC, Amarillo #FFC107, Verde #28A745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Márgenes:</a:t>
            </a: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2,5 cm (sup/inf/der), 3 cm (izq)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Página:</a:t>
            </a: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Carta (21,59 × 27,94 cm)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3140869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Estilos en Word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496270"/>
            <a:ext cx="3905696" cy="1203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 1: Roboto Bold 16 pt, azul — aparece en índice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 2: Roboto Medium 14 pt, azul — nivel 2 en índice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Nota, Advertencia y Tip: bordes de color, excluidos del índice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46947" y="1175147"/>
            <a:ext cx="390569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Reglas de Captura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6947" y="1530548"/>
            <a:ext cx="3905696" cy="1256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Resolución mínima: </a:t>
            </a:r>
            <a:r>
              <a:rPr lang="en-US" sz="10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1280×720 px</a:t>
            </a: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formato </a:t>
            </a:r>
            <a:r>
              <a:rPr lang="en-US" sz="105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PNG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Flechas rojas y recuadros amarillos para anotaciones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Nomenclatura: </a:t>
            </a:r>
            <a:r>
              <a:rPr lang="en-US" sz="1050" dirty="0">
                <a:solidFill>
                  <a:srgbClr val="E5DCE6"/>
                </a:solidFill>
                <a:highlight>
                  <a:srgbClr val="161B4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sistema_seccion_descripcion.png</a:t>
            </a:r>
            <a:endParaRPr lang="en-US" sz="1050" dirty="0"/>
          </a:p>
          <a:p>
            <a:pPr marL="213360" indent="-213360" algn="l">
              <a:lnSpc>
                <a:spcPct val="132000"/>
              </a:lnSpc>
              <a:buSzPct val="100000"/>
              <a:buChar char="•"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Prohibido: capturas borrosas o con fondos personales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46947" y="2941290"/>
            <a:ext cx="3905696" cy="981224"/>
          </a:xfrm>
          <a:prstGeom prst="roundRect">
            <a:avLst>
              <a:gd name="adj" fmla="val 5973"/>
            </a:avLst>
          </a:prstGeom>
          <a:solidFill>
            <a:srgbClr val="670D73"/>
          </a:solidFill>
          <a:ln/>
        </p:spPr>
        <p:txBody>
          <a:bodyPr/>
          <a:lstStyle/>
          <a:p>
            <a:endParaRPr lang="es-SV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74" y="3148533"/>
            <a:ext cx="174427" cy="1395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00427" y="3099718"/>
            <a:ext cx="331269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Plantilla Maestra M3.4.dotx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Estilos configurados, índice automático funcional y paleta aplicada.</a:t>
            </a:r>
            <a:endParaRPr lang="en-US" sz="105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F7214F2-B8CC-EA8C-AA68-0485B908AC42}"/>
              </a:ext>
            </a:extLst>
          </p:cNvPr>
          <p:cNvSpPr/>
          <p:nvPr/>
        </p:nvSpPr>
        <p:spPr>
          <a:xfrm>
            <a:off x="7884160" y="4815840"/>
            <a:ext cx="1259840" cy="327660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4057"/>
            <a:ext cx="8151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Conclusión: Documentar con Estándares en El Salvador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558379"/>
            <a:ext cx="860896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6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Aplicar IEEE 829 e ISO/IEC 26514 genera impacto real en cinco dimensiones clave</a:t>
            </a: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924348"/>
            <a:ext cx="2628602" cy="1434182"/>
          </a:xfrm>
          <a:prstGeom prst="roundRect">
            <a:avLst>
              <a:gd name="adj" fmla="val 4022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5" name="Text 3"/>
          <p:cNvSpPr/>
          <p:nvPr/>
        </p:nvSpPr>
        <p:spPr>
          <a:xfrm>
            <a:off x="633413" y="2061642"/>
            <a:ext cx="235401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Calidad y Confiabilidad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3413" y="2355949"/>
            <a:ext cx="2354014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Manuales claros y precisos que reducen errores y reclamos por malentendidos.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57699" y="1924348"/>
            <a:ext cx="2628602" cy="1434182"/>
          </a:xfrm>
          <a:prstGeom prst="roundRect">
            <a:avLst>
              <a:gd name="adj" fmla="val 4022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8" name="Text 6"/>
          <p:cNvSpPr/>
          <p:nvPr/>
        </p:nvSpPr>
        <p:spPr>
          <a:xfrm>
            <a:off x="3394993" y="2061642"/>
            <a:ext cx="2354014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🌍</a:t>
            </a: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Competitividad Internacional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94993" y="2570485"/>
            <a:ext cx="2354014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empresas salvadoreñas pueden competir globalmente y atraer inversión extranjera.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19279" y="1924348"/>
            <a:ext cx="2628602" cy="1434182"/>
          </a:xfrm>
          <a:prstGeom prst="roundRect">
            <a:avLst>
              <a:gd name="adj" fmla="val 4022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1" name="Text 9"/>
          <p:cNvSpPr/>
          <p:nvPr/>
        </p:nvSpPr>
        <p:spPr>
          <a:xfrm>
            <a:off x="6156573" y="2061642"/>
            <a:ext cx="235401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Inclusión Digital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56573" y="2355949"/>
            <a:ext cx="2354014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Adaptar el lenguaje al perfil del usuario promueve la alfabetización digital en todos los niveles educativos.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6119" y="3491508"/>
            <a:ext cx="4009355" cy="1217861"/>
          </a:xfrm>
          <a:prstGeom prst="roundRect">
            <a:avLst>
              <a:gd name="adj" fmla="val 4736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4" name="Text 12"/>
          <p:cNvSpPr/>
          <p:nvPr/>
        </p:nvSpPr>
        <p:spPr>
          <a:xfrm>
            <a:off x="633413" y="3628802"/>
            <a:ext cx="373476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Eficiencia Gubernamental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3413" y="3923109"/>
            <a:ext cx="3734767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MINED puede optimizar la capacitación docente con documentación estandarizada y alineada a los Planes de Estudio.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38452" y="3491508"/>
            <a:ext cx="4009430" cy="1217861"/>
          </a:xfrm>
          <a:prstGeom prst="roundRect">
            <a:avLst>
              <a:gd name="adj" fmla="val 4736"/>
            </a:avLst>
          </a:prstGeom>
          <a:solidFill>
            <a:srgbClr val="282D5E"/>
          </a:solidFill>
          <a:ln/>
        </p:spPr>
        <p:txBody>
          <a:bodyPr/>
          <a:lstStyle/>
          <a:p>
            <a:endParaRPr lang="es-SV"/>
          </a:p>
        </p:txBody>
      </p:sp>
      <p:sp>
        <p:nvSpPr>
          <p:cNvPr id="17" name="Text 15"/>
          <p:cNvSpPr/>
          <p:nvPr/>
        </p:nvSpPr>
        <p:spPr>
          <a:xfrm>
            <a:off x="4775746" y="3628802"/>
            <a:ext cx="373484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♿</a:t>
            </a:r>
            <a:r>
              <a:rPr lang="en-US" sz="13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Accesibilidad Universal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75746" y="3923109"/>
            <a:ext cx="373484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 estándares W3C e ISO garantizan contenido accesible para personas con discapacidad, promoviendo equidad e inclusión.</a:t>
            </a:r>
            <a:endParaRPr lang="en-US" sz="105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CC4ABD4-242D-2992-CD54-4D855C18825F}"/>
              </a:ext>
            </a:extLst>
          </p:cNvPr>
          <p:cNvSpPr/>
          <p:nvPr/>
        </p:nvSpPr>
        <p:spPr>
          <a:xfrm>
            <a:off x="7975600" y="4785360"/>
            <a:ext cx="1129482" cy="289977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4585</TotalTime>
  <Words>622</Words>
  <Application>Microsoft Office PowerPoint</Application>
  <PresentationFormat>Presentación en pantalla (16:9)</PresentationFormat>
  <Paragraphs>94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Montserrat Bold</vt:lpstr>
      <vt:lpstr>Arial</vt:lpstr>
      <vt:lpstr>Bricolage Grotesque ExtraBold</vt:lpstr>
      <vt:lpstr>Consolas</vt:lpstr>
      <vt:lpstr>Twemoji Mozilla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Usuario</cp:lastModifiedBy>
  <cp:revision>3</cp:revision>
  <dcterms:created xsi:type="dcterms:W3CDTF">2026-08-11T13:16:53Z</dcterms:created>
  <dcterms:modified xsi:type="dcterms:W3CDTF">2026-08-17T15:44:49Z</dcterms:modified>
</cp:coreProperties>
</file>